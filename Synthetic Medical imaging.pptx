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25" r:id="rId5"/>
    <p:sldId id="348" r:id="rId6"/>
    <p:sldId id="349" r:id="rId7"/>
    <p:sldId id="350" r:id="rId8"/>
    <p:sldId id="351" r:id="rId9"/>
    <p:sldId id="346" r:id="rId10"/>
    <p:sldId id="344" r:id="rId11"/>
    <p:sldId id="354" r:id="rId12"/>
    <p:sldId id="352" r:id="rId13"/>
    <p:sldId id="353" r:id="rId14"/>
    <p:sldId id="355" r:id="rId15"/>
    <p:sldId id="34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40" autoAdjust="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8/23/2025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8/23/2025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dirty="0"/>
              <a:t>Synthetic Medical imaging with diffusion model	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Vedansh dixit	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86DE0-35CC-1FA4-9795-EE622883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Study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94CA2-8BD4-431A-1AF1-26521549B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9" y="2377440"/>
            <a:ext cx="9587865" cy="3566160"/>
          </a:xfrm>
        </p:spPr>
        <p:txBody>
          <a:bodyPr/>
          <a:lstStyle/>
          <a:p>
            <a:r>
              <a:rPr lang="en-US" dirty="0"/>
              <a:t>Develop a conditional diffusion model specifically optimized for chest X-ray synthesis for Pneumothorax and Pneumonia.</a:t>
            </a:r>
          </a:p>
          <a:p>
            <a:r>
              <a:rPr lang="en-US" dirty="0"/>
              <a:t>Creating a deployable system using Hugging Face Spaces that allows clinicians to generate specific X-ray views or pathologies through a web interface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0562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206BF-6275-B30F-89B7-23420E91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E611-FCA3-379B-DA17-46D403B5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diffusion-model based generation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78DDE-5D63-B93F-14F5-BB1805C72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9" y="2377440"/>
            <a:ext cx="9587865" cy="3566160"/>
          </a:xfrm>
        </p:spPr>
        <p:txBody>
          <a:bodyPr/>
          <a:lstStyle/>
          <a:p>
            <a:r>
              <a:rPr lang="en-US" dirty="0"/>
              <a:t>While GANs (Generative Adversarial Networks) pioneered high-resolution synthesis, their adversarial training often produces artifacts in subtle anatomical regions and suffer from training instability .</a:t>
            </a:r>
          </a:p>
          <a:p>
            <a:r>
              <a:rPr lang="en-US" dirty="0"/>
              <a:t>Variational Autoencoders (VAEs) offer more stable training but tend to generate blurry outputs unsuitable for diagnostic applications.</a:t>
            </a:r>
          </a:p>
          <a:p>
            <a:r>
              <a:rPr lang="en-US" dirty="0"/>
              <a:t>Diffusion models overcome these limitations through their progressive denoising approach, particularly effective for preserving fine details in X-rays.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312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25017-0CB7-44B3-C727-C7FEA1C81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552450"/>
            <a:ext cx="4114800" cy="2830830"/>
          </a:xfrm>
        </p:spPr>
        <p:txBody>
          <a:bodyPr/>
          <a:lstStyle/>
          <a:p>
            <a:r>
              <a:rPr lang="en-IN" dirty="0"/>
              <a:t>DATA SOURCE:</a:t>
            </a:r>
            <a:br>
              <a:rPr lang="en-IN" dirty="0"/>
            </a:br>
            <a:r>
              <a:rPr lang="en-US" dirty="0" err="1"/>
              <a:t>CheXpert</a:t>
            </a:r>
            <a:r>
              <a:rPr lang="en-US" dirty="0"/>
              <a:t> dataset From Stanford Hospital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49F79-1012-0530-AAEE-CA7F1CB52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Large sample size across diverse demographics</a:t>
            </a:r>
          </a:p>
          <a:p>
            <a:r>
              <a:rPr lang="en-US" dirty="0"/>
              <a:t>Expert radiologist annotations</a:t>
            </a:r>
          </a:p>
          <a:p>
            <a:r>
              <a:rPr lang="en-US" dirty="0"/>
              <a:t>Standardized DICOM preprocessing. </a:t>
            </a:r>
            <a:endParaRPr lang="en-IN" sz="1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1B30C0A-101F-348C-6AE1-0AFCFE4AD4F1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" b="549"/>
          <a:stretch>
            <a:fillRect/>
          </a:stretch>
        </p:blipFill>
        <p:spPr bwMode="auto">
          <a:xfrm>
            <a:off x="5688013" y="333375"/>
            <a:ext cx="5897562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156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13627F-DC3A-AA7A-565F-E716B44BC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8922" y="257177"/>
            <a:ext cx="9036177" cy="419098"/>
          </a:xfrm>
        </p:spPr>
        <p:txBody>
          <a:bodyPr/>
          <a:lstStyle/>
          <a:p>
            <a:r>
              <a:rPr lang="en-IN" sz="2000" dirty="0"/>
              <a:t>MODEL ARCHITECTURE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591BF4A-E1A7-EB89-462E-1921155152F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4944" b="4944"/>
          <a:stretch>
            <a:fillRect/>
          </a:stretch>
        </p:blipFill>
        <p:spPr>
          <a:xfrm>
            <a:off x="1400175" y="895350"/>
            <a:ext cx="91440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96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4C75A-DBAF-FE94-1B92-D7D8FBA1F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78B9471-3645-18E5-7F31-10BF41405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685800"/>
            <a:ext cx="10925175" cy="619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000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8BE95-12F7-6312-9091-E1C4BB55F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9B9B0D-87D9-8DD6-A684-AA71C272D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9948" y="139065"/>
            <a:ext cx="8229600" cy="546735"/>
          </a:xfrm>
        </p:spPr>
        <p:txBody>
          <a:bodyPr/>
          <a:lstStyle/>
          <a:p>
            <a:r>
              <a:rPr lang="en-IN" sz="1600" dirty="0"/>
              <a:t>RESULTS DURING TRAINING </a:t>
            </a:r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36E7B4BC-4D54-808A-81E4-26D8C1499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09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3" name="Rectangle 20">
            <a:extLst>
              <a:ext uri="{FF2B5EF4-FFF2-40B4-BE49-F238E27FC236}">
                <a16:creationId xmlns:a16="http://schemas.microsoft.com/office/drawing/2014/main" id="{9C97138C-397F-F06B-1AC8-906E470CE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1225" y="24304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971BEB-1049-C679-9560-102BFE19B054}"/>
              </a:ext>
            </a:extLst>
          </p:cNvPr>
          <p:cNvSpPr txBox="1"/>
          <p:nvPr/>
        </p:nvSpPr>
        <p:spPr>
          <a:xfrm>
            <a:off x="6096000" y="4581525"/>
            <a:ext cx="562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AT 50 EPOCHS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505E91-BDB8-AF24-5930-36A059BF4E8C}"/>
              </a:ext>
            </a:extLst>
          </p:cNvPr>
          <p:cNvSpPr txBox="1"/>
          <p:nvPr/>
        </p:nvSpPr>
        <p:spPr>
          <a:xfrm>
            <a:off x="142875" y="4495800"/>
            <a:ext cx="534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AT 35 EPOCHS</a:t>
            </a:r>
            <a:endParaRPr lang="en-IN" dirty="0"/>
          </a:p>
        </p:txBody>
      </p:sp>
      <p:pic>
        <p:nvPicPr>
          <p:cNvPr id="3074" name="Picture 29">
            <a:extLst>
              <a:ext uri="{FF2B5EF4-FFF2-40B4-BE49-F238E27FC236}">
                <a16:creationId xmlns:a16="http://schemas.microsoft.com/office/drawing/2014/main" id="{F7657F7A-FAEF-5E42-15A7-14BC22435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09600"/>
            <a:ext cx="5730875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30">
            <a:extLst>
              <a:ext uri="{FF2B5EF4-FFF2-40B4-BE49-F238E27FC236}">
                <a16:creationId xmlns:a16="http://schemas.microsoft.com/office/drawing/2014/main" id="{A35995F8-7CB6-7F34-8604-1D07BB49B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362200"/>
            <a:ext cx="5730875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4541CACA-F389-D523-2F3F-749724511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89C739A-B791-1F0B-0178-ED87B45A1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362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B71241F-B46C-DC99-7E82-DA1F689DB1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295" y="596265"/>
            <a:ext cx="5731510" cy="1754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EC43BA-AF4D-E0DE-74CF-DD6B418F3C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675" y="2373631"/>
            <a:ext cx="5731510" cy="17545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1653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8C8BB83-5CD8-9F14-EFE6-F3AA0C1258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2070D7-6812-E5B1-434F-035373FAF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199" y="328802"/>
            <a:ext cx="7804023" cy="395097"/>
          </a:xfrm>
        </p:spPr>
        <p:txBody>
          <a:bodyPr/>
          <a:lstStyle/>
          <a:p>
            <a:r>
              <a:rPr lang="en-IN" sz="2000" dirty="0"/>
              <a:t>TRAINING LOSS VS EPOCHS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DA9F5AF-D60D-000C-BEE3-BB8EA9B5D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824" y="1033463"/>
            <a:ext cx="10296525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5576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AD90E-EF54-4E6E-1A9B-CA7350C74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B7F177-8669-B223-654E-55E41D9B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9948" y="139065"/>
            <a:ext cx="8229600" cy="546735"/>
          </a:xfrm>
        </p:spPr>
        <p:txBody>
          <a:bodyPr/>
          <a:lstStyle/>
          <a:p>
            <a:r>
              <a:rPr lang="en-IN" sz="1600" dirty="0"/>
              <a:t>FINAL RESULTS</a:t>
            </a:r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D2E572D0-19FF-F23B-AA9D-98759C903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09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3" name="Rectangle 20">
            <a:extLst>
              <a:ext uri="{FF2B5EF4-FFF2-40B4-BE49-F238E27FC236}">
                <a16:creationId xmlns:a16="http://schemas.microsoft.com/office/drawing/2014/main" id="{92BB40EF-4011-4C0B-DAC3-54655C2A6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1225" y="24304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03F535-C68D-6A5B-63F9-3028B1436978}"/>
              </a:ext>
            </a:extLst>
          </p:cNvPr>
          <p:cNvSpPr txBox="1"/>
          <p:nvPr/>
        </p:nvSpPr>
        <p:spPr>
          <a:xfrm>
            <a:off x="800100" y="6094412"/>
            <a:ext cx="1093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AFTER 70 EPOCHS</a:t>
            </a:r>
            <a:endParaRPr lang="en-IN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A50FE25-3B3C-1D4A-F734-F9395A1B3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7ED01F-9477-1F33-1EE0-641DB7B10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362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54C9C-6E6B-2FA1-DFD9-8FFC21123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763588"/>
            <a:ext cx="10241913" cy="2665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9FD15F-A150-811C-EBBE-ACC2E79B8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3704272"/>
            <a:ext cx="10241912" cy="22488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7651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1FA594-2EF8-0C30-FE3A-A73800668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2323" y="310515"/>
            <a:ext cx="8229600" cy="499110"/>
          </a:xfrm>
        </p:spPr>
        <p:txBody>
          <a:bodyPr/>
          <a:lstStyle/>
          <a:p>
            <a:r>
              <a:rPr lang="en-IN" sz="2000" dirty="0"/>
              <a:t>DEPLOYMENT RESULTS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B6280BBB-CFB5-71BE-671D-BDDDEA35C5A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4567" r="4567"/>
          <a:stretch>
            <a:fillRect/>
          </a:stretch>
        </p:blipFill>
        <p:spPr>
          <a:xfrm>
            <a:off x="561975" y="1133475"/>
            <a:ext cx="11077575" cy="551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631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1EA07-A44A-3329-178E-BD67AAD5C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514350"/>
          </a:xfrm>
        </p:spPr>
        <p:txBody>
          <a:bodyPr/>
          <a:lstStyle/>
          <a:p>
            <a:r>
              <a:rPr lang="en-IN" sz="2800" dirty="0"/>
              <a:t>Scope of improvement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52723-BDA0-85DA-E002-BF6AE1964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2152649"/>
            <a:ext cx="8046720" cy="37623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During training image size as 256 and batch size as 128 could significantly improve the quality of images but due to limited size of GPU T4 on google </a:t>
            </a:r>
            <a:r>
              <a:rPr lang="en-IN" sz="2000" dirty="0" err="1"/>
              <a:t>colab</a:t>
            </a:r>
            <a:r>
              <a:rPr lang="en-IN" sz="2000" dirty="0"/>
              <a:t> (16 GB ) we can’t implement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While deploying we could significantly improve the speed of image generation by using Pro tier of </a:t>
            </a:r>
            <a:r>
              <a:rPr lang="en-IN" sz="2000" dirty="0" err="1"/>
              <a:t>Huggingface</a:t>
            </a:r>
            <a:r>
              <a:rPr lang="en-IN" sz="2000" dirty="0"/>
              <a:t> that includes GPU for image generation. </a:t>
            </a:r>
          </a:p>
        </p:txBody>
      </p:sp>
    </p:spTree>
    <p:extLst>
      <p:ext uri="{BB962C8B-B14F-4D97-AF65-F5344CB8AC3E}">
        <p14:creationId xmlns:p14="http://schemas.microsoft.com/office/powerpoint/2010/main" val="1733836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{42380DD1-3EA3-47F0-99C8-7E89DE79C170}tf67061901_win32</Template>
  <TotalTime>4359</TotalTime>
  <Words>234</Words>
  <Application>Microsoft Office PowerPoint</Application>
  <PresentationFormat>Widescreen</PresentationFormat>
  <Paragraphs>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Daytona Condensed Light</vt:lpstr>
      <vt:lpstr>Posterama</vt:lpstr>
      <vt:lpstr>Custom</vt:lpstr>
      <vt:lpstr>Synthetic Medical imaging with diffusion model </vt:lpstr>
      <vt:lpstr>Objective of Study</vt:lpstr>
      <vt:lpstr>Why diffusion-model based generation ?</vt:lpstr>
      <vt:lpstr>DATA SOURCE: CheXpert dataset From Stanford Hospital</vt:lpstr>
      <vt:lpstr>MODEL ARCHITECTURE</vt:lpstr>
      <vt:lpstr>PowerPoint Presentation</vt:lpstr>
      <vt:lpstr>RESULTS DURING TRAINING </vt:lpstr>
      <vt:lpstr>TRAINING LOSS VS EPOCHS</vt:lpstr>
      <vt:lpstr>FINAL RESULTS</vt:lpstr>
      <vt:lpstr>DEPLOYMENT RESULTS</vt:lpstr>
      <vt:lpstr>Scope of improvement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Vedansh Dixit</dc:creator>
  <cp:lastModifiedBy>Vedansh Dixit</cp:lastModifiedBy>
  <cp:revision>6</cp:revision>
  <dcterms:created xsi:type="dcterms:W3CDTF">2025-07-18T13:48:49Z</dcterms:created>
  <dcterms:modified xsi:type="dcterms:W3CDTF">2025-08-24T13:27:36Z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